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914400"/>
            <a:ext cx="1828800" cy="1828800"/>
          </a:xfrm>
          <a:prstGeom prst="ellipse">
            <a:avLst/>
          </a:prstGeom>
          <a:solidFill>
            <a:srgbClr val="5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486400"/>
            <a:ext cx="1371600" cy="1371600"/>
          </a:xfrm>
          <a:prstGeom prst="ellipse">
            <a:avLst/>
          </a:prstGeom>
          <a:solidFill>
            <a:srgbClr val="5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5486400"/>
            <a:ext cx="914400" cy="914400"/>
          </a:xfrm>
          <a:prstGeom prst="ellipse">
            <a:avLst/>
          </a:prstGeom>
          <a:solidFill>
            <a:srgbClr val="5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Property Management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0E8F4"/>
                </a:solidFill>
              </a:rPr>
              <a:t>موديول إدارة العقارات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BBDD"/>
                </a:solidFill>
              </a:rPr>
              <a:t>Odoo 19 Enterprise  |  Complete User Guide  |  دليل المستخدم الشامل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99BB"/>
                </a:solidFill>
              </a:rPr>
              <a:t>Units · Buildings · Rentals · Sales · Commissions · Maintenance ·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5029200"/>
            <a:ext cx="6675120" cy="45720"/>
          </a:xfrm>
          <a:prstGeom prst="rect">
            <a:avLst/>
          </a:prstGeom>
          <a:solidFill>
            <a:srgbClr val="AA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Module Overview — 7 Core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نظرة عامة على الموديول — 7 أقسام رئيسية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14400"/>
            <a:ext cx="2834640" cy="45720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🏠  Property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14B67"/>
                </a:solidFill>
              </a:rPr>
              <a:t>الوحدات العقارية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Apartments, Villas, Offices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914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2" y="914400"/>
            <a:ext cx="2834640" cy="457200"/>
          </a:xfrm>
          <a:prstGeom prst="rect">
            <a:avLst/>
          </a:prstGeom>
          <a:solidFill>
            <a:srgbClr val="5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🏗️  Buildings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417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7AB0"/>
                </a:solidFill>
              </a:rPr>
              <a:t>المباني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Building management &amp; occupancy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914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914400"/>
            <a:ext cx="28346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 Rental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1417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A745"/>
                </a:solidFill>
              </a:rPr>
              <a:t>عقود الإيجار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Full rental lifecycle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91440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914400"/>
            <a:ext cx="2834640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📝  Sales Contracts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1417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7E14"/>
                </a:solidFill>
              </a:rPr>
              <a:t>عقود البيع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SPA &amp; sale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47472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474720"/>
            <a:ext cx="2834640" cy="4572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💰  REGA Commissions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977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F42C1"/>
                </a:solidFill>
              </a:rPr>
              <a:t>عمولات REGA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343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Fees, VAT &amp; agent share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2112" y="347472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82112" y="3474720"/>
            <a:ext cx="283464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3552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🔧  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3552" y="3977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3545"/>
                </a:solidFill>
              </a:rPr>
              <a:t>الصيانة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4343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Requests &amp; tracking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474720"/>
            <a:ext cx="28346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1344" y="3474720"/>
            <a:ext cx="2834640" cy="457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📊 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3977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A2B8"/>
                </a:solidFill>
              </a:rPr>
              <a:t>لوحة التحكم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343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Live KPIs &amp; occupancy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Step 1 — Property Units: Kanban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الخطوة 1 — الوحدات العقارية: عرض كانبان</a:t>
            </a:r>
          </a:p>
        </p:txBody>
      </p:sp>
      <p:pic>
        <p:nvPicPr>
          <p:cNvPr id="6" name="Picture 5" descr="odoo19_01_units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Kanban cards show each unit at a glance  ·  Color badges: Available (blue) · Rented (green) · Sold (red)  ·  Price, area, bedrooms shown on each card  ·  Click any card to open the unit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بطاقات كانبان تعرض كل وحدة بسرعة  ·  شارات ملونة: متاحة · مؤجرة · مباعة  ·  السعر والمساحة وعدد الغرف على كل بطاقة  ·  انقر على أي بطاقة لفتح نموذج الوحدة  🇸🇦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Step 1 — Property Unit: Form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الخطوة 1 — نموذج الوحدة العقارية</a:t>
            </a:r>
          </a:p>
        </p:txBody>
      </p:sp>
      <p:pic>
        <p:nvPicPr>
          <p:cNvPr id="6" name="Picture 5" descr="odoo19_02_uni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Full details: type, floor, area, bedrooms, bathrooms  ·  Status bar: Available → Rented → Booked → Sold  ·  Smart buttons link to Rental Contracts &amp; Maintenance  ·  Pricing fields: monthly rent &amp; sale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تفاصيل كاملة: النوع والدور والمساحة والغرف  ·  شريط الحالة: متاح → مؤجر → محجوز → مباع  ·  أزرار ذكية تربط بعقود الإيجار والصيانة  ·  حقول السعر: الإيجار الشهري وسعر البيع  🇸🇦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Buildings — Setup &amp; Occupancy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المباني — الإعداد والإشغال</a:t>
            </a:r>
          </a:p>
        </p:txBody>
      </p:sp>
      <p:pic>
        <p:nvPicPr>
          <p:cNvPr id="6" name="Picture 5" descr="odoo19_03_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Each building groups its units automatically  ·  Live occupancy %: (Rented + Sold) ÷ Total × 100  ·  Shows available, rented, sold counts per building  ·  Building number (B-001) for easy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كل مبنى يجمع وحداته تلقائياً  ·  نسبة إشغال حية: (مؤجر + مباع) ÷ الإجمالي × 100  ·  يعرض عدد المتاحة والمؤجرة والمباعة لكل مبنى  ·  رقم المبنى (B-001) لتسهيل التعرف عليه  🇸🇦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Step 3–4 — Rental Contracts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الخطوة 3-4 — قائمة عقود الإيجار</a:t>
            </a:r>
          </a:p>
        </p:txBody>
      </p:sp>
      <p:pic>
        <p:nvPicPr>
          <p:cNvPr id="6" name="Picture 5" descr="odoo19_04_rental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Create contract from unit form or rental menu  ·  Fields: tenant, unit, start/end dates, monthly rent  ·  Status: Draft → Active → Expired → Terminated  ·  Auto-links to invoice &amp; commission on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إنشاء العقد من نموذج الوحدة أو قائمة الإيجار  ·  الحقول: المستأجر، الوحدة، التواريخ، الإيجار الشهري  ·  الحالة: مسودة → نشط → منتهي → ملغي  ·  يرتبط تلقائياً بالفاتورة والعمولة عند التأكيد  🇸🇦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Sales Flow — Sales Contracts (SPA)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مسار البيع — عقود البيع (اتفاقية الشراء)</a:t>
            </a:r>
          </a:p>
        </p:txBody>
      </p:sp>
      <p:pic>
        <p:nvPicPr>
          <p:cNvPr id="6" name="Picture 5" descr="odoo19_05_sal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Sales contracts track buyer, unit &amp; sale price  ·  SPA = Sale and Purchase Agreement  ·  Status: Draft → Active → Completed → Cancelled  ·  Unit status auto-changes to Sold on completion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عقود البيع تتتبع المشتري والوحدة وسعر البيع  ·  SPA = اتفاقية البيع والشراء  ·  الحالة: مسودة → نشط → مكتمل → ملغي  ·  حالة الوحدة تتغير تلقائياً إلى مباعة عند الإكمال  🇸🇦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REGA Commissions &amp;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عمولات REGA والرسوم</a:t>
            </a:r>
          </a:p>
        </p:txBody>
      </p:sp>
      <p:pic>
        <p:nvPicPr>
          <p:cNvPr id="6" name="Picture 5" descr="odoo19_06_com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Commission auto-created on rental/sale confirmation  ·  Formula: Annual Rent × 2.5% = Company Commission  ·  Agent share: 25% of company commission  ·  VAT 15% applied on agent amount → total_with_vat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العمولة تُنشأ تلقائياً عند تأكيد الإيجار أو البيع  ·  الصيغة: الإيجار السنوي × 2.5% = عمولة الشركة  ·  نصيب الوكيل: 25% من عمولة الشركة  ·  VAT 15% على مبلغ الوكيل ← الإجمالي مع VAT  🇸🇦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Maintenance — Requests &amp;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الصيانة — الطلبات والمتابعة</a:t>
            </a:r>
          </a:p>
        </p:txBody>
      </p:sp>
      <p:pic>
        <p:nvPicPr>
          <p:cNvPr id="6" name="Picture 5" descr="odoo19_07_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Kanban view with color-coded priority levels  ·  Types: Electrical, Plumbing, AC, Civil, General  ·  Status: New → In Progress → Done → Cancelled  ·  Tracks estimated vs actual cost per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عرض كانبان مع مستويات أولوية ملونة  ·  الأنواع: كهرباء، سباكة، تكييف، مدني، عام  ·  الحالة: جديد → قيد التنفيذ → منتهي → ملغي  ·  يتتبع التكلفة التقديرية مقابل الفعلية لكل طلب  🇸🇦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Dashboard — Live KPI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</a:rPr>
              <a:t>لوحة التحكم — مؤشرات الأداء الحية</a:t>
            </a:r>
          </a:p>
        </p:txBody>
      </p:sp>
      <p:pic>
        <p:nvPicPr>
          <p:cNvPr id="6" name="Picture 5" descr="odoo19_08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🇬🇧  Real-time KPIs: Total, Available, Rented, Sold, Booked  ·  Contract counts: Rental &amp; Sales contracts  ·  Maintenance open requests count  ·  Occupancy % progress bars per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مؤشرات فورية: الإجمالي، المتاحة، المؤجرة، المباعة، المحجوزة  ·  عدد العقود: عقود الإيجار وعقود البيع  ·  عدد طلبات الصيانة المفتوحة  ·  شريط إشغال % لكل مبنى  🇸🇦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⚡  Quick Reference — All Navigation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CCBBDD"/>
                </a:solidFill>
              </a:rPr>
              <a:t>مرجع سريع — جميع مسارات التنقل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6868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🏠 Units Kanban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252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الوحدات ← كانبان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Properties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86868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📋 Unit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252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نموذج الوحدة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5819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Kanban → click any 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86868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🏗️ Buildings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252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المباني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المباني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228600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📋 Rental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2670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عقود الإيجار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29992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Rental Contracts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28600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📝 Sales Contracts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670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عقود البيع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9992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Sales Contracts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28600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💰 Commissions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670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العمولات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9992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REGA Commissions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370332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🔧 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الصيانة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44165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Maintenance Requests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70332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لوحة التحكم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4165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Property Management → لوحة التحكم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70332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🔄 New Rental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مسار إيجار جديد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4165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Unit → Rental Contracts → New → Confirm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" y="512064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🔄 New Sale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مسار بيع جديد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" y="5833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Unit → Sales Contracts → New → Complete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5120640"/>
            <a:ext cx="3794760" cy="1280160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💡 Occupancy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BBDD"/>
                </a:solidFill>
              </a:rPr>
              <a:t>نسبة الإشغال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5833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999BB"/>
                </a:solidFill>
              </a:rPr>
              <a:t>→ Auto-calc: (Rented+Sold+Booked)/Total ×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